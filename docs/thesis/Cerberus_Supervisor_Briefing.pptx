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659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B5641E"/>
                </a:solidFill>
                <a:latin typeface="Consolas"/>
              </a:rPr>
              <a:t>RESEARCH BRIEFING  ·  14 AUG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0" b="1" i="0">
                <a:solidFill>
                  <a:srgbClr val="171B21"/>
                </a:solidFill>
                <a:latin typeface="Georgia"/>
              </a:rPr>
              <a:t>Cerberus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2044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 i="0">
                <a:solidFill>
                  <a:srgbClr val="5B6469"/>
                </a:solidFill>
                <a:latin typeface="Calibri"/>
              </a:rPr>
              <a:t>A two-tier, kernel-level DDoS defence that stops attacks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8620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 i="0">
                <a:solidFill>
                  <a:srgbClr val="5B6469"/>
                </a:solidFill>
                <a:latin typeface="Calibri"/>
              </a:rPr>
              <a:t>without punishing the real users caught in a traffic surge.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212080"/>
            <a:ext cx="2286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71B21"/>
                </a:solidFill>
                <a:latin typeface="Consolas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76072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5B6469"/>
                </a:solidFill>
                <a:latin typeface="Consolas"/>
              </a:rPr>
              <a:t>Novelties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5B6469"/>
                </a:solidFill>
                <a:latin typeface="Consolas"/>
              </a:rPr>
              <a:t>demonstrated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5212080"/>
            <a:ext cx="2286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71B21"/>
                </a:solidFill>
                <a:latin typeface="Consolas"/>
              </a:rPr>
              <a:t>86%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576072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5B6469"/>
                </a:solidFill>
                <a:latin typeface="Consolas"/>
              </a:rPr>
              <a:t>ML accuracy,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5B6469"/>
                </a:solidFill>
                <a:latin typeface="Consolas"/>
              </a:rPr>
              <a:t>real CIC-IDS-2017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5212080"/>
            <a:ext cx="2286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71B21"/>
                </a:solidFill>
                <a:latin typeface="Consolas"/>
              </a:rPr>
              <a:t>0 / 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576072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5B6469"/>
                </a:solidFill>
                <a:latin typeface="Consolas"/>
              </a:rPr>
              <a:t>Legit. users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5B6469"/>
                </a:solidFill>
                <a:latin typeface="Consolas"/>
              </a:rPr>
              <a:t>wrongly blocked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5212080"/>
            <a:ext cx="2286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71B21"/>
                </a:solidFill>
                <a:latin typeface="Consolas"/>
              </a:rPr>
              <a:t>53pp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576072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5B6469"/>
                </a:solidFill>
                <a:latin typeface="Consolas"/>
              </a:rPr>
              <a:t>Thesis draft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5B6469"/>
                </a:solidFill>
                <a:latin typeface="Consolas"/>
              </a:rPr>
              <a:t>written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6469"/>
                </a:solidFill>
                <a:latin typeface="Consolas"/>
              </a:rPr>
              <a:t>1/8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B5641E"/>
                </a:solidFill>
                <a:latin typeface="Consolas"/>
              </a:rPr>
              <a:t>01 — THE RESEARCH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171B21"/>
                </a:solidFill>
                <a:latin typeface="Georgia"/>
              </a:rPr>
              <a:t>Fast defences are blind.
Smart defences are slow.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2960" y="2331720"/>
            <a:ext cx="10515600" cy="0"/>
          </a:xfrm>
          <a:prstGeom prst="line">
            <a:avLst/>
          </a:prstGeom>
          <a:ln w="12700">
            <a:solidFill>
              <a:srgbClr val="D6DA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2651760"/>
            <a:ext cx="493776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700" b="1" i="0">
                <a:solidFill>
                  <a:srgbClr val="171B21"/>
                </a:solidFill>
                <a:latin typeface="Calibri"/>
              </a:rPr>
              <a:t>In-kernel filters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350" b="0" i="0">
                <a:solidFill>
                  <a:srgbClr val="5B6469"/>
                </a:solidFill>
                <a:latin typeface="Calibri"/>
              </a:rPr>
              <a:t>Extremely fast (run at the earliest point in
Linux) but restricted to cheap, volume-only
rules — cannot tell an attack from a
legitimate surge.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2651760"/>
            <a:ext cx="493776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700" b="1" i="0">
                <a:solidFill>
                  <a:srgbClr val="171B21"/>
                </a:solidFill>
                <a:latin typeface="Calibri"/>
              </a:rPr>
              <a:t>ML-based detectors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350" b="0" i="0">
                <a:solidFill>
                  <a:srgbClr val="5B6469"/>
                </a:solidFill>
                <a:latin typeface="Calibri"/>
              </a:rPr>
              <a:t>Discriminate well, but are usually applied
to ALL traffic in userspace — too slow to
sit on the packet path.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5074920"/>
            <a:ext cx="10195560" cy="1234440"/>
          </a:xfrm>
          <a:prstGeom prst="rect">
            <a:avLst/>
          </a:prstGeom>
          <a:solidFill>
            <a:srgbClr val="FFFFFF"/>
          </a:solidFill>
          <a:ln w="15875">
            <a:solidFill>
              <a:srgbClr val="B564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285232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1" i="1">
                <a:solidFill>
                  <a:srgbClr val="B5641E"/>
                </a:solidFill>
                <a:latin typeface="Georgia"/>
              </a:rPr>
              <a:t>The gap: </a:t>
            </a:r>
            <a:r>
              <a:rPr sz="1500" b="0" i="1">
                <a:solidFill>
                  <a:srgbClr val="171B21"/>
                </a:solidFill>
                <a:latin typeface="Georgia"/>
              </a:rPr>
              <a:t>no in-kernel, line-rate defence applies ML selectively enough to stay fast — AND is evaluated on the false positives it inflicts on a legitimate flash crowd.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6469"/>
                </a:solidFill>
                <a:latin typeface="Consolas"/>
              </a:rPr>
              <a:t>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B5641E"/>
                </a:solidFill>
                <a:latin typeface="Consolas"/>
              </a:rPr>
              <a:t>02 — HOW CERBERUS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71B21"/>
                </a:solidFill>
                <a:latin typeface="Georgia"/>
              </a:rPr>
              <a:t>Two tiers, joined by shared kernel memory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880360"/>
            <a:ext cx="1783080" cy="960120"/>
          </a:xfrm>
          <a:prstGeom prst="rect">
            <a:avLst/>
          </a:prstGeom>
          <a:solidFill>
            <a:srgbClr val="FFFFFF"/>
          </a:solidFill>
          <a:ln w="15875">
            <a:solidFill>
              <a:srgbClr val="D6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250" b="0">
                <a:solidFill>
                  <a:srgbClr val="171B21"/>
                </a:solidFill>
                <a:latin typeface="Consolas"/>
              </a:rPr>
              <a:t>Attacker /</a:t>
            </a:r>
          </a:p>
          <a:p>
            <a:pPr algn="ctr"/>
            <a:r>
              <a:rPr sz="1250" b="0">
                <a:solidFill>
                  <a:srgbClr val="171B21"/>
                </a:solidFill>
                <a:latin typeface="Consolas"/>
              </a:rPr>
              <a:t>Real users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06040" y="3177539"/>
            <a:ext cx="3840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5B6469"/>
                </a:solidFill>
                <a:latin typeface="Calibri"/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2990088" y="2880360"/>
            <a:ext cx="1783080" cy="960120"/>
          </a:xfrm>
          <a:prstGeom prst="rect">
            <a:avLst/>
          </a:prstGeom>
          <a:solidFill>
            <a:srgbClr val="FFFFFF"/>
          </a:solidFill>
          <a:ln w="15875">
            <a:solidFill>
              <a:srgbClr val="B564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250" b="1">
                <a:solidFill>
                  <a:srgbClr val="B5641E"/>
                </a:solidFill>
                <a:latin typeface="Consolas"/>
              </a:rPr>
              <a:t>Tier-1</a:t>
            </a:r>
          </a:p>
          <a:p>
            <a:pPr algn="ctr"/>
            <a:r>
              <a:rPr sz="1250" b="1">
                <a:solidFill>
                  <a:srgbClr val="B5641E"/>
                </a:solidFill>
                <a:latin typeface="Consolas"/>
              </a:rPr>
              <a:t>Kernel XDP filter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73168" y="3177539"/>
            <a:ext cx="3840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5B6469"/>
                </a:solidFill>
                <a:latin typeface="Calibr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5157216" y="2880360"/>
            <a:ext cx="1783080" cy="960120"/>
          </a:xfrm>
          <a:prstGeom prst="rect">
            <a:avLst/>
          </a:prstGeom>
          <a:solidFill>
            <a:srgbClr val="FFFFFF"/>
          </a:solidFill>
          <a:ln w="15875">
            <a:solidFill>
              <a:srgbClr val="D6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250" b="0">
                <a:solidFill>
                  <a:srgbClr val="171B21"/>
                </a:solidFill>
                <a:latin typeface="Consolas"/>
              </a:rPr>
              <a:t>BPF maps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0296" y="3177539"/>
            <a:ext cx="3840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5B6469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24344" y="2880360"/>
            <a:ext cx="1783080" cy="960120"/>
          </a:xfrm>
          <a:prstGeom prst="rect">
            <a:avLst/>
          </a:prstGeom>
          <a:solidFill>
            <a:srgbClr val="FFFFFF"/>
          </a:solidFill>
          <a:ln w="15875">
            <a:solidFill>
              <a:srgbClr val="326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250" b="1">
                <a:solidFill>
                  <a:srgbClr val="326F6E"/>
                </a:solidFill>
                <a:latin typeface="Consolas"/>
              </a:rPr>
              <a:t>Tier-2</a:t>
            </a:r>
          </a:p>
          <a:p>
            <a:pPr algn="ctr"/>
            <a:r>
              <a:rPr sz="1250" b="1">
                <a:solidFill>
                  <a:srgbClr val="326F6E"/>
                </a:solidFill>
                <a:latin typeface="Consolas"/>
              </a:rPr>
              <a:t>ML + adaptive loop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07424" y="3177539"/>
            <a:ext cx="3840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5B6469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491472" y="2880360"/>
            <a:ext cx="1783080" cy="960120"/>
          </a:xfrm>
          <a:prstGeom prst="rect">
            <a:avLst/>
          </a:prstGeom>
          <a:solidFill>
            <a:srgbClr val="FFFFFF"/>
          </a:solidFill>
          <a:ln w="15875">
            <a:solidFill>
              <a:srgbClr val="D6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250" b="0">
                <a:solidFill>
                  <a:srgbClr val="171B21"/>
                </a:solidFill>
                <a:latin typeface="Consolas"/>
              </a:rPr>
              <a:t>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343400"/>
            <a:ext cx="102412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500" b="0" i="0">
                <a:solidFill>
                  <a:srgbClr val="5B6469"/>
                </a:solidFill>
                <a:latin typeface="Calibri"/>
              </a:rPr>
              <a:t>Every packet is counted and judged against a live threshold </a:t>
            </a:r>
            <a:r>
              <a:rPr sz="1500" b="1" i="0">
                <a:solidFill>
                  <a:srgbClr val="171B21"/>
                </a:solidFill>
                <a:latin typeface="Calibri"/>
              </a:rPr>
              <a:t>inside the kernel</a:t>
            </a:r>
            <a:r>
              <a:rPr sz="1500" b="0" i="0">
                <a:solidFill>
                  <a:srgbClr val="5B6469"/>
                </a:solidFill>
                <a:latin typeface="Calibri"/>
              </a:rPr>
              <a:t> — the fastest point in Linux.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500" b="0" i="0">
                <a:solidFill>
                  <a:srgbClr val="5B6469"/>
                </a:solidFill>
                <a:latin typeface="Calibri"/>
              </a:rPr>
              <a:t>Only </a:t>
            </a:r>
            <a:r>
              <a:rPr sz="1500" b="1" i="0">
                <a:solidFill>
                  <a:srgbClr val="326F6E"/>
                </a:solidFill>
                <a:latin typeface="Calibri"/>
              </a:rPr>
              <a:t>ambiguous</a:t>
            </a:r>
            <a:r>
              <a:rPr sz="1500" b="0" i="0">
                <a:solidFill>
                  <a:srgbClr val="5B6469"/>
                </a:solidFill>
                <a:latin typeface="Calibri"/>
              </a:rPr>
              <a:t> sources are escalated to the ML tree. The control loop writes an updated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500" b="0" i="0">
                <a:solidFill>
                  <a:srgbClr val="5B6469"/>
                </a:solidFill>
                <a:latin typeface="Calibri"/>
              </a:rPr>
              <a:t>threshold straight back into the kernel map — </a:t>
            </a:r>
            <a:r>
              <a:rPr sz="1500" b="1" i="0">
                <a:solidFill>
                  <a:srgbClr val="B5641E"/>
                </a:solidFill>
                <a:latin typeface="Calibri"/>
              </a:rPr>
              <a:t>no reload.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6469"/>
                </a:solidFill>
                <a:latin typeface="Consolas"/>
              </a:rPr>
              <a:t>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B5641E"/>
                </a:solidFill>
                <a:latin typeface="Consolas"/>
              </a:rPr>
              <a:t>03 — THREE 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71B21"/>
                </a:solidFill>
                <a:latin typeface="Georgia"/>
              </a:rPr>
              <a:t>The combination is the contribution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331720"/>
            <a:ext cx="3401568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651760"/>
            <a:ext cx="27614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B5641E"/>
                </a:solidFill>
                <a:latin typeface="Georgia"/>
              </a:rPr>
              <a:t>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383279"/>
            <a:ext cx="2761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B6469"/>
                </a:solidFill>
                <a:latin typeface="Consolas"/>
              </a:rPr>
              <a:t>ADAPTIVE THRESHOLD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703320"/>
            <a:ext cx="276148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50" b="1" i="0">
                <a:solidFill>
                  <a:srgbClr val="171B21"/>
                </a:solidFill>
                <a:latin typeface="Calibri"/>
              </a:rPr>
              <a:t>Live, reload-free updates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480560"/>
            <a:ext cx="276148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 i="0">
                <a:solidFill>
                  <a:srgbClr val="5B6469"/>
                </a:solidFill>
                <a:latin typeface="Calibri"/>
              </a:rPr>
              <a:t>A control loop rewrites the kernel's drop threshold via a shared BPF map. The next packet sees the new value instantly.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1688" y="2331720"/>
            <a:ext cx="3401568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2651760"/>
            <a:ext cx="27614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B5641E"/>
                </a:solidFill>
                <a:latin typeface="Georgia"/>
              </a:rPr>
              <a:t>II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3383279"/>
            <a:ext cx="2761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B6469"/>
                </a:solidFill>
                <a:latin typeface="Consolas"/>
              </a:rPr>
              <a:t>SELECTIVE ESCALATION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3703320"/>
            <a:ext cx="276148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50" b="1" i="0">
                <a:solidFill>
                  <a:srgbClr val="171B21"/>
                </a:solidFill>
                <a:latin typeface="Calibri"/>
              </a:rPr>
              <a:t>ML only on the doubtful slice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4480560"/>
            <a:ext cx="276148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 i="0">
                <a:solidFill>
                  <a:srgbClr val="5B6469"/>
                </a:solidFill>
                <a:latin typeface="Calibri"/>
              </a:rPr>
              <a:t>The cheap kernel filter handles all traffic. Only ambiguous sources reach the decision tree.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00416" y="2331720"/>
            <a:ext cx="3401568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0456" y="2651760"/>
            <a:ext cx="27614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B5641E"/>
                </a:solidFill>
                <a:latin typeface="Georgia"/>
              </a:rPr>
              <a:t>III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0456" y="3383279"/>
            <a:ext cx="2761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B6469"/>
                </a:solidFill>
                <a:latin typeface="Consolas"/>
              </a:rPr>
              <a:t>FLASH-CROWD 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0456" y="3703320"/>
            <a:ext cx="276148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50" b="1" i="0">
                <a:solidFill>
                  <a:srgbClr val="171B21"/>
                </a:solidFill>
                <a:latin typeface="Calibri"/>
              </a:rPr>
              <a:t>Measuring the harm, not just 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0456" y="4480560"/>
            <a:ext cx="276148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 i="0">
                <a:solidFill>
                  <a:srgbClr val="5B6469"/>
                </a:solidFill>
                <a:latin typeface="Calibri"/>
              </a:rPr>
              <a:t>Deliberately fires legitimate surge traffic and measures false positives — what most prior work skips.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6469"/>
                </a:solidFill>
                <a:latin typeface="Consolas"/>
              </a:rPr>
              <a:t>4/8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B5641E"/>
                </a:solidFill>
                <a:latin typeface="Consolas"/>
              </a:rPr>
              <a:t>04 — KEY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71B21"/>
                </a:solidFill>
                <a:latin typeface="Georgia"/>
              </a:rPr>
              <a:t>0 of 12 legitimate users wrongly blocked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 i="1">
                <a:solidFill>
                  <a:srgbClr val="5B6469"/>
                </a:solidFill>
                <a:latin typeface="Calibri"/>
              </a:rPr>
              <a:t>vs. 12 of 12 with a static threshold — both fully caught the attacker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B6469"/>
                </a:solidFill>
                <a:latin typeface="Consolas"/>
              </a:rPr>
              <a:t>USERS WRONGLY BLOCKED (OF 12)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3108960"/>
            <a:ext cx="1554480" cy="2651760"/>
          </a:xfrm>
          <a:prstGeom prst="rect">
            <a:avLst/>
          </a:prstGeom>
          <a:solidFill>
            <a:srgbClr val="963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39" y="2514600"/>
            <a:ext cx="2103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71B21"/>
                </a:solidFill>
                <a:latin typeface="Consolas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39" y="5897880"/>
            <a:ext cx="2103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5B6469"/>
                </a:solidFill>
                <a:latin typeface="Consolas"/>
              </a:rPr>
              <a:t>Static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5B6469"/>
                </a:solidFill>
                <a:latin typeface="Consolas"/>
              </a:rPr>
              <a:t>threshold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5705856"/>
            <a:ext cx="1554480" cy="54864"/>
          </a:xfrm>
          <a:prstGeom prst="rect">
            <a:avLst/>
          </a:prstGeom>
          <a:solidFill>
            <a:srgbClr val="256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5111496"/>
            <a:ext cx="2103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71B21"/>
                </a:solidFill>
                <a:latin typeface="Consolas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5897880"/>
            <a:ext cx="2103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5B6469"/>
                </a:solidFill>
                <a:latin typeface="Consolas"/>
              </a:rPr>
              <a:t>Adaptive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5B6469"/>
                </a:solidFill>
                <a:latin typeface="Consolas"/>
              </a:rPr>
              <a:t>threshold (ours)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05839" y="5760720"/>
            <a:ext cx="5394961" cy="0"/>
          </a:xfrm>
          <a:prstGeom prst="line">
            <a:avLst/>
          </a:prstGeom>
          <a:ln w="12700">
            <a:solidFill>
              <a:srgbClr val="D6DA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223760" y="2468880"/>
            <a:ext cx="420624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0" i="0">
                <a:solidFill>
                  <a:srgbClr val="5B6469"/>
                </a:solidFill>
                <a:latin typeface="Calibri"/>
              </a:rPr>
              <a:t>Both configurations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1" i="0">
                <a:solidFill>
                  <a:srgbClr val="171B21"/>
                </a:solidFill>
                <a:latin typeface="Calibri"/>
              </a:rPr>
              <a:t>caught the attacker.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800" b="0" i="0">
                <a:solidFill>
                  <a:srgbClr val="5B6469"/>
                </a:solidFill>
                <a:latin typeface="Calibri"/>
              </a:rPr>
              <a:t/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0" i="0">
                <a:solidFill>
                  <a:srgbClr val="5B6469"/>
                </a:solidFill>
                <a:latin typeface="Calibri"/>
              </a:rPr>
              <a:t>Only the static threshold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1" i="0">
                <a:solidFill>
                  <a:srgbClr val="96302E"/>
                </a:solidFill>
                <a:latin typeface="Calibri"/>
              </a:rPr>
              <a:t>harmed real users.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6469"/>
                </a:solidFill>
                <a:latin typeface="Consolas"/>
              </a:rPr>
              <a:t>5/8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B5641E"/>
                </a:solidFill>
                <a:latin typeface="Consolas"/>
              </a:rPr>
              <a:t>04 — KEY RESULT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71B21"/>
                </a:solidFill>
                <a:latin typeface="Georgia"/>
              </a:rPr>
              <a:t>Tier-2 classifier, trained on real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 i="0">
                <a:solidFill>
                  <a:srgbClr val="5B6469"/>
                </a:solidFill>
                <a:latin typeface="Calibri"/>
              </a:rPr>
              <a:t>Decision tree trained on 702,718 real samples — CIC-IDS-2017 benchmark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1645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5B6469"/>
                </a:solidFill>
                <a:latin typeface="Consolas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2468880"/>
            <a:ext cx="1645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5B6469"/>
                </a:solidFill>
                <a:latin typeface="Consolas"/>
              </a:rPr>
              <a:t>Precision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468880"/>
            <a:ext cx="1645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5B6469"/>
                </a:solidFill>
                <a:latin typeface="Consolas"/>
              </a:rPr>
              <a:t>Recall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468880"/>
            <a:ext cx="1645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5B6469"/>
                </a:solidFill>
                <a:latin typeface="Consolas"/>
              </a:rPr>
              <a:t>F1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17520"/>
            <a:ext cx="1645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171B21"/>
                </a:solidFill>
                <a:latin typeface="Consolas"/>
              </a:rPr>
              <a:t>Benign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3017520"/>
            <a:ext cx="1645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171B21"/>
                </a:solidFill>
                <a:latin typeface="Consolas"/>
              </a:rPr>
              <a:t>0.97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017520"/>
            <a:ext cx="1645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171B21"/>
                </a:solidFill>
                <a:latin typeface="Consolas"/>
              </a:rPr>
              <a:t>0.78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3017520"/>
            <a:ext cx="1645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171B21"/>
                </a:solidFill>
                <a:latin typeface="Consolas"/>
              </a:rPr>
              <a:t>0.87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22960" y="2944368"/>
            <a:ext cx="7589520" cy="0"/>
          </a:xfrm>
          <a:prstGeom prst="line">
            <a:avLst/>
          </a:prstGeom>
          <a:ln w="12700">
            <a:solidFill>
              <a:srgbClr val="D6DA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3566160"/>
            <a:ext cx="1645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171B21"/>
                </a:solidFill>
                <a:latin typeface="Consolas"/>
              </a:rPr>
              <a:t>Attack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3566160"/>
            <a:ext cx="1645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171B21"/>
                </a:solidFill>
                <a:latin typeface="Consolas"/>
              </a:rPr>
              <a:t>0.76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3566160"/>
            <a:ext cx="1645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171B21"/>
                </a:solidFill>
                <a:latin typeface="Consolas"/>
              </a:rPr>
              <a:t>0.97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3566160"/>
            <a:ext cx="1645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171B21"/>
                </a:solidFill>
                <a:latin typeface="Consolas"/>
              </a:rPr>
              <a:t>0.85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22960" y="3493008"/>
            <a:ext cx="7589520" cy="0"/>
          </a:xfrm>
          <a:prstGeom prst="line">
            <a:avLst/>
          </a:prstGeom>
          <a:ln w="12700">
            <a:solidFill>
              <a:srgbClr val="D6DA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22960" y="4572000"/>
            <a:ext cx="758952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326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754880"/>
            <a:ext cx="7132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5B6469"/>
                </a:solidFill>
                <a:latin typeface="Calibri"/>
              </a:rPr>
              <a:t>Overall accuracy: </a:t>
            </a:r>
            <a:r>
              <a:rPr sz="2000" b="1" i="0">
                <a:solidFill>
                  <a:srgbClr val="326F6E"/>
                </a:solidFill>
                <a:latin typeface="Consolas"/>
              </a:rPr>
              <a:t>0.86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6469"/>
                </a:solidFill>
                <a:latin typeface="Consolas"/>
              </a:rPr>
              <a:t>6/8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B5641E"/>
                </a:solidFill>
                <a:latin typeface="Consolas"/>
              </a:rPr>
              <a:t>05 —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71B21"/>
                </a:solidFill>
                <a:latin typeface="Georgia"/>
              </a:rPr>
              <a:t>Where the project stands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256B43"/>
                </a:solidFill>
                <a:latin typeface="Calibri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33172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256B43"/>
                </a:solidFill>
                <a:latin typeface="Consolas"/>
              </a:rPr>
              <a:t>DONE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5029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171B21"/>
                </a:solidFill>
                <a:latin typeface="Calibri"/>
              </a:rPr>
              <a:t>•  Kernel filter compiles &amp; runs live on the dev machine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01568"/>
            <a:ext cx="5029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171B21"/>
                </a:solidFill>
                <a:latin typeface="Calibri"/>
              </a:rPr>
              <a:t>•  Full stack demoed vs. a real hping3 flood — 1.66M packets dropped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968496"/>
            <a:ext cx="5029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171B21"/>
                </a:solidFill>
                <a:latin typeface="Calibri"/>
              </a:rPr>
              <a:t>•  Tier-2 tree trained on real CIC-IDS-2017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35424"/>
            <a:ext cx="5029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171B21"/>
                </a:solidFill>
                <a:latin typeface="Calibri"/>
              </a:rPr>
              <a:t>•  Flash-crowd false-positive result measured (12 → 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102352"/>
            <a:ext cx="5029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171B21"/>
                </a:solidFill>
                <a:latin typeface="Calibri"/>
              </a:rPr>
              <a:t>•  Thesis draft written — 7 chapters, ~15,500 words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33172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B5641E"/>
                </a:solidFill>
                <a:latin typeface="Calibr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33172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B5641E"/>
                </a:solidFill>
                <a:latin typeface="Consolas"/>
              </a:rPr>
              <a:t>NEXT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834640"/>
            <a:ext cx="5120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171B21"/>
                </a:solidFill>
                <a:latin typeface="Calibri"/>
              </a:rPr>
              <a:t>•  Repeat flash-crowd test on real machines, several runs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401568"/>
            <a:ext cx="5120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171B21"/>
                </a:solidFill>
                <a:latin typeface="Calibri"/>
              </a:rPr>
              <a:t>•  Let the live adaptive loop choose the threshold automatically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968496"/>
            <a:ext cx="5120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171B21"/>
                </a:solidFill>
                <a:latin typeface="Calibri"/>
              </a:rPr>
              <a:t>•  Fix the ML train/serve feature mismatch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4535424"/>
            <a:ext cx="5120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171B21"/>
                </a:solidFill>
                <a:latin typeface="Calibri"/>
              </a:rPr>
              <a:t>•  Add real literature-review citations &amp; figures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5102352"/>
            <a:ext cx="5120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171B21"/>
                </a:solidFill>
                <a:latin typeface="Calibri"/>
              </a:rPr>
              <a:t>•  Compare numerically against a named prior method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6469"/>
                </a:solidFill>
                <a:latin typeface="Consolas"/>
              </a:rPr>
              <a:t>7/8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B5641E"/>
                </a:solidFill>
                <a:latin typeface="Consolas"/>
              </a:rPr>
              <a:t>06 — QUESTIONS FOR SUPERVISOR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71B21"/>
                </a:solidFill>
                <a:latin typeface="Georgia"/>
              </a:rPr>
              <a:t>What I'd like your steer 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548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B5641E"/>
                </a:solidFill>
                <a:latin typeface="Georg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2450592"/>
            <a:ext cx="95097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50" b="0" i="0">
                <a:solidFill>
                  <a:srgbClr val="171B21"/>
                </a:solidFill>
                <a:latin typeface="Calibri"/>
              </a:rPr>
              <a:t>Is the flash-crowd false-positive framing strong enough as the headline contribution for a paper?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22960" y="3200400"/>
            <a:ext cx="9966960" cy="0"/>
          </a:xfrm>
          <a:prstGeom prst="line">
            <a:avLst/>
          </a:prstGeom>
          <a:ln w="12700">
            <a:solidFill>
              <a:srgbClr val="D6DA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22960" y="3337560"/>
            <a:ext cx="548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B5641E"/>
                </a:solidFill>
                <a:latin typeface="Georgi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3410712"/>
            <a:ext cx="95097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50" b="0" i="0">
                <a:solidFill>
                  <a:srgbClr val="171B21"/>
                </a:solidFill>
                <a:latin typeface="Calibri"/>
              </a:rPr>
              <a:t>Should the evaluation move to multiple physical machines before writing up final numbers?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22960" y="4160520"/>
            <a:ext cx="9966960" cy="0"/>
          </a:xfrm>
          <a:prstGeom prst="line">
            <a:avLst/>
          </a:prstGeom>
          <a:ln w="12700">
            <a:solidFill>
              <a:srgbClr val="D6DA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960" y="4297680"/>
            <a:ext cx="548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B5641E"/>
                </a:solidFill>
                <a:latin typeface="Georgi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4370832"/>
            <a:ext cx="95097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50" b="0" i="0">
                <a:solidFill>
                  <a:srgbClr val="171B21"/>
                </a:solidFill>
                <a:latin typeface="Calibri"/>
              </a:rPr>
              <a:t>Is this realistically a workshop-paper target — and if so, which venue?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960" y="5120640"/>
            <a:ext cx="9966960" cy="0"/>
          </a:xfrm>
          <a:prstGeom prst="line">
            <a:avLst/>
          </a:prstGeom>
          <a:ln w="12700">
            <a:solidFill>
              <a:srgbClr val="D6DA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2960" y="5257800"/>
            <a:ext cx="548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B5641E"/>
                </a:solidFill>
                <a:latin typeface="Georg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5330952"/>
            <a:ext cx="95097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50" b="0" i="0">
                <a:solidFill>
                  <a:srgbClr val="171B21"/>
                </a:solidFill>
                <a:latin typeface="Calibri"/>
              </a:rPr>
              <a:t>Any steer on which prior papers to prioritise in the literature review?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6469"/>
                </a:solidFill>
                <a:latin typeface="Consolas"/>
              </a:rPr>
              <a:t>8/8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